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-457200"/>
            <a:ext cx="3657600" cy="3657600"/>
          </a:xfrm>
          <a:prstGeom prst="rect">
            <a:avLst/>
          </a:prstGeom>
          <a:solidFill>
            <a:srgbClr val="05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875520" y="4114800"/>
            <a:ext cx="2743200" cy="2743200"/>
          </a:xfrm>
          <a:prstGeom prst="rect">
            <a:avLst/>
          </a:prstGeom>
          <a:solidFill>
            <a:srgbClr val="05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10B981"/>
                </a:solidFill>
                <a:latin typeface="Calibri"/>
              </a:rPr>
              <a:t>SafaiMitra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AI-Powered Washroom Cleanliness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Calibri"/>
              </a:rPr>
              <a:t>Track 5: AI for Society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29000"/>
            <a:ext cx="45720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Team Leader:   Apoorv Tandon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Member:           Abhigyan Krishna Tiwari  (Frontend &amp; Design)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Member:           Aman Kumar Singh  (Backend Development)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6B6D4"/>
                </a:solidFill>
                <a:latin typeface="Calibri"/>
              </a:rPr>
              <a:t>[ Place AMIEE Logo Here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367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IITB Hackathon 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Identification &amp; Relevance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B981"/>
                </a:solidFill>
                <a:latin typeface="Calibri"/>
              </a:rPr>
              <a:t>Track 5: AI for Society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SafaiMitra  |  Track 5: AI for Society  |  IITB Hackathon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2743200" cy="1645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727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$106 Billion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Lost/year by India
due to poor sanitation
(WHO)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508760"/>
            <a:ext cx="2743200" cy="1645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15727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47%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48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Women avoid public
spaces due to
unhygienic toilets (UNICEF)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508760"/>
            <a:ext cx="2743200" cy="1645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5727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600 Million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48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Indians use public or
shared sanitation
facilities daily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508760"/>
            <a:ext cx="2743200" cy="1645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15727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12 Crore+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148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Toilets built under
Swachh Bharat Mission
—yet poorly maintained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337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Calibri"/>
              </a:rPr>
              <a:t>The Core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749039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• No feedback loop — Citizens have no quick way to report dirty washrooms</a:t>
            </a:r>
          </a:p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• No cleaner accountability — No structured assignments, no proof of work</a:t>
            </a:r>
          </a:p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• No management data — Facility managers operate completely blind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3246120"/>
            <a:ext cx="4297680" cy="2468880"/>
          </a:xfrm>
          <a:prstGeom prst="rect">
            <a:avLst/>
          </a:prstGeom>
          <a:solidFill>
            <a:srgbClr val="ECFF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0" y="3337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7A55"/>
                </a:solidFill>
                <a:latin typeface="Calibri"/>
              </a:rPr>
              <a:t>AI for Society Alignment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749039"/>
            <a:ext cx="39319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111827"/>
                </a:solidFill>
                <a:latin typeface="Calibri"/>
              </a:rPr>
              <a:t>SafaiMitra</a:t>
            </a:r>
            <a:r>
              <a:rPr sz="1100" b="0" dirty="0">
                <a:solidFill>
                  <a:srgbClr val="111827"/>
                </a:solidFill>
                <a:latin typeface="Calibri"/>
              </a:rPr>
              <a:t> applies AI principles to: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111827"/>
                </a:solidFill>
                <a:latin typeface="Calibri"/>
              </a:rPr>
              <a:t>  Automate complaint routing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111827"/>
                </a:solidFill>
                <a:latin typeface="Calibri"/>
              </a:rPr>
              <a:t>  Score cleaner performance intelligently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111827"/>
                </a:solidFill>
                <a:latin typeface="Calibri"/>
              </a:rPr>
              <a:t>  Predict maintenance needs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111827"/>
                </a:solidFill>
                <a:latin typeface="Calibri"/>
              </a:rPr>
              <a:t>  Generate actionable sanitation insights</a:t>
            </a:r>
          </a:p>
          <a:p>
            <a:pPr algn="l"/>
            <a:endParaRPr sz="1100" b="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sz="1100" b="0" dirty="0">
                <a:solidFill>
                  <a:srgbClr val="111827"/>
                </a:solidFill>
                <a:latin typeface="Calibri"/>
              </a:rPr>
              <a:t>Solving a grassroots public health crisis</a:t>
            </a:r>
          </a:p>
          <a:p>
            <a:pPr algn="l"/>
            <a:r>
              <a:rPr sz="1100" b="0" dirty="0">
                <a:solidFill>
                  <a:srgbClr val="111827"/>
                </a:solidFill>
                <a:latin typeface="Calibri"/>
              </a:rPr>
              <a:t>affecting millions of Indians daily.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9BDE5D0-B7EE-3782-7426-3CF0D43B3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831" y="2743140"/>
            <a:ext cx="2789162" cy="13717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Innovation &amp; Originality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0B981"/>
                </a:solidFill>
                <a:latin typeface="Calibri"/>
              </a:rPr>
              <a:t>What makes </a:t>
            </a:r>
            <a:r>
              <a:rPr sz="1400" b="0" i="0" dirty="0" err="1">
                <a:solidFill>
                  <a:srgbClr val="10B981"/>
                </a:solidFill>
                <a:latin typeface="Calibri"/>
              </a:rPr>
              <a:t>SafaiMitra</a:t>
            </a:r>
            <a:r>
              <a:rPr sz="1400" b="0" i="0" dirty="0">
                <a:solidFill>
                  <a:srgbClr val="10B981"/>
                </a:solidFill>
                <a:latin typeface="Calibri"/>
              </a:rPr>
              <a:t> completely different?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SafaiMitra  |  Track 5: AI for Society  |  IITB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1E3A5F"/>
                </a:solidFill>
                <a:latin typeface="Calibri"/>
              </a:rPr>
              <a:t>India's first closed-loop, AI-assisted washroom accountability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65960"/>
            <a:ext cx="315468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011679"/>
            <a:ext cx="30175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1965960"/>
            <a:ext cx="379476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2011679"/>
            <a:ext cx="36576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Existing Solutions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1965960"/>
            <a:ext cx="43434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79" y="2011679"/>
            <a:ext cx="42062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SafaiMitra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350008"/>
            <a:ext cx="3154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2395727"/>
            <a:ext cx="2971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Citizen Reporting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2350008"/>
            <a:ext cx="379476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30168" y="2395727"/>
            <a:ext cx="3611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Manual complaint boxes, helplines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350008"/>
            <a:ext cx="43434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16367" y="2395727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7A55"/>
                </a:solidFill>
                <a:latin typeface="Calibri"/>
              </a:rPr>
              <a:t>Instant QR scan — no app needed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734056"/>
            <a:ext cx="3154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2779775"/>
            <a:ext cx="2971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Cleaner Accountability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2734056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30168" y="2779775"/>
            <a:ext cx="3611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None whatsoever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2734056"/>
            <a:ext cx="4343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16367" y="2779775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7A55"/>
                </a:solidFill>
                <a:latin typeface="Calibri"/>
              </a:rPr>
              <a:t>Photo proof verified by admin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118104"/>
            <a:ext cx="3154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048" y="3163824"/>
            <a:ext cx="2971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Performance Tracking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3118104"/>
            <a:ext cx="379476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30168" y="3163824"/>
            <a:ext cx="3611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None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3118104"/>
            <a:ext cx="43434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16367" y="3163824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7A55"/>
                </a:solidFill>
                <a:latin typeface="Calibri"/>
              </a:rPr>
              <a:t>AI-scored: speed + completion + approval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502152"/>
            <a:ext cx="3154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3547872"/>
            <a:ext cx="2971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Management Insights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3502152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30168" y="3547872"/>
            <a:ext cx="3611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None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3502152"/>
            <a:ext cx="4343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16367" y="3547872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7A55"/>
                </a:solidFill>
                <a:latin typeface="Calibri"/>
              </a:rPr>
              <a:t>Real-time dashboard &amp; analytics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886200"/>
            <a:ext cx="315468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3931920"/>
            <a:ext cx="2971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Deployment Cost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20440" y="3886200"/>
            <a:ext cx="379476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30168" y="3931920"/>
            <a:ext cx="3611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Expensive IoT hardware required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06640" y="3886200"/>
            <a:ext cx="43434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16367" y="3931920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7A55"/>
                </a:solidFill>
                <a:latin typeface="Calibri"/>
              </a:rPr>
              <a:t>Zero hardware — software only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270248"/>
            <a:ext cx="3154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84048" y="4315968"/>
            <a:ext cx="2971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Deployment Time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20440" y="4270248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30168" y="4315968"/>
            <a:ext cx="3611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Weeks to months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06640" y="4270248"/>
            <a:ext cx="4343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516367" y="4315968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7A55"/>
                </a:solidFill>
                <a:latin typeface="Calibri"/>
              </a:rPr>
              <a:t>Under 2 hours for any facility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Solution Design &amp; 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B981"/>
                </a:solidFill>
                <a:latin typeface="Calibri"/>
              </a:rPr>
              <a:t>How it works behind the scenes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SafaiMitra  |  Track 5: AI for Society  |  IITB Hackathon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3657600" cy="2103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361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B6D4"/>
                </a:solidFill>
                <a:latin typeface="Calibri"/>
              </a:rPr>
              <a:t>CITIZEN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→ Scans QR code on wall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→ Rates cleanliness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→ Tags issues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→ No login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286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463040"/>
            <a:ext cx="3657600" cy="2103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79" y="15361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Calibri"/>
              </a:rPr>
              <a:t>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9659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→ Gets real-time alert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→ Assigns to cleaner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→ Verifies photo proof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→ Views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286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463040"/>
            <a:ext cx="3657600" cy="2103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5361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  <a:latin typeface="Calibri"/>
              </a:rPr>
              <a:t>CLEANER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9659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→ Sees assignment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→ Cleans washroom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→ Uploads photo proof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→ Gets performance scored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Technology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920" y="4200659"/>
            <a:ext cx="50292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dirty="0">
                <a:solidFill>
                  <a:srgbClr val="111827"/>
                </a:solidFill>
                <a:latin typeface="Calibri"/>
              </a:rPr>
              <a:t>Frontend:   </a:t>
            </a:r>
            <a:r>
              <a:rPr sz="1150" b="0" dirty="0">
                <a:solidFill>
                  <a:srgbClr val="111827"/>
                </a:solidFill>
                <a:latin typeface="Calibri"/>
              </a:rPr>
              <a:t>React 18 + TypeScript</a:t>
            </a:r>
          </a:p>
          <a:p>
            <a:pPr algn="l"/>
            <a:r>
              <a:rPr sz="1150" b="1" dirty="0">
                <a:solidFill>
                  <a:srgbClr val="111827"/>
                </a:solidFill>
                <a:latin typeface="Calibri"/>
              </a:rPr>
              <a:t>Backend:</a:t>
            </a:r>
            <a:r>
              <a:rPr sz="1150" b="0" dirty="0">
                <a:solidFill>
                  <a:srgbClr val="111827"/>
                </a:solidFill>
                <a:latin typeface="Calibri"/>
              </a:rPr>
              <a:t>    Firebase Firestore (real-time)</a:t>
            </a:r>
          </a:p>
          <a:p>
            <a:pPr algn="l"/>
            <a:r>
              <a:rPr sz="1150" b="1" dirty="0">
                <a:solidFill>
                  <a:srgbClr val="111827"/>
                </a:solidFill>
                <a:latin typeface="Calibri"/>
              </a:rPr>
              <a:t>Auth:</a:t>
            </a:r>
            <a:r>
              <a:rPr sz="1150" b="0" dirty="0">
                <a:solidFill>
                  <a:srgbClr val="111827"/>
                </a:solidFill>
                <a:latin typeface="Calibri"/>
              </a:rPr>
              <a:t>           Firebase Authentication</a:t>
            </a:r>
          </a:p>
          <a:p>
            <a:pPr algn="l"/>
            <a:r>
              <a:rPr sz="1150" b="1" dirty="0">
                <a:solidFill>
                  <a:srgbClr val="111827"/>
                </a:solidFill>
                <a:latin typeface="Calibri"/>
              </a:rPr>
              <a:t>Hosting:</a:t>
            </a:r>
            <a:r>
              <a:rPr sz="1150" b="0" dirty="0">
                <a:solidFill>
                  <a:srgbClr val="111827"/>
                </a:solidFill>
                <a:latin typeface="Calibri"/>
              </a:rPr>
              <a:t>      Vercel (auto-deploy)</a:t>
            </a:r>
          </a:p>
          <a:p>
            <a:pPr algn="l"/>
            <a:r>
              <a:rPr sz="1150" b="1" dirty="0">
                <a:solidFill>
                  <a:srgbClr val="111827"/>
                </a:solidFill>
                <a:latin typeface="Calibri"/>
              </a:rPr>
              <a:t>Charts:</a:t>
            </a:r>
            <a:r>
              <a:rPr sz="1150" b="0" dirty="0">
                <a:solidFill>
                  <a:srgbClr val="111827"/>
                </a:solidFill>
                <a:latin typeface="Calibri"/>
              </a:rPr>
              <a:t>        Recharts</a:t>
            </a:r>
          </a:p>
          <a:p>
            <a:pPr algn="l"/>
            <a:r>
              <a:rPr sz="1150" b="1" dirty="0">
                <a:solidFill>
                  <a:srgbClr val="111827"/>
                </a:solidFill>
                <a:latin typeface="Calibri"/>
              </a:rPr>
              <a:t>Mobile:</a:t>
            </a:r>
            <a:r>
              <a:rPr sz="1150" b="0" dirty="0">
                <a:solidFill>
                  <a:srgbClr val="111827"/>
                </a:solidFill>
                <a:latin typeface="Calibri"/>
              </a:rPr>
              <a:t>        Progressive Web App (PWA)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657600"/>
            <a:ext cx="5943600" cy="2743200"/>
          </a:xfrm>
          <a:prstGeom prst="rect">
            <a:avLst/>
          </a:prstGeom>
          <a:solidFill>
            <a:srgbClr val="ECFF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0" y="3749039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7A55"/>
                </a:solidFill>
                <a:latin typeface="Calibri"/>
              </a:rPr>
              <a:t>AI &amp; Intelligence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160520"/>
            <a:ext cx="557784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111827"/>
                </a:solidFill>
                <a:latin typeface="Calibri"/>
              </a:rPr>
              <a:t>Cleaner performance scoring algorithm</a:t>
            </a:r>
          </a:p>
          <a:p>
            <a:pPr algn="l"/>
            <a:r>
              <a:rPr sz="1100" b="0" dirty="0">
                <a:solidFill>
                  <a:srgbClr val="111827"/>
                </a:solidFill>
                <a:latin typeface="Calibri"/>
              </a:rPr>
              <a:t>(response time + completion rate + approval rate)</a:t>
            </a:r>
          </a:p>
          <a:p>
            <a:pPr algn="l"/>
            <a:endParaRPr sz="1100" b="0" dirty="0">
              <a:solidFill>
                <a:srgbClr val="111827"/>
              </a:solidFill>
              <a:latin typeface="Calibr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111827"/>
                </a:solidFill>
                <a:latin typeface="Calibri"/>
              </a:rPr>
              <a:t>Complaint pattern analytics by location &amp; time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111827"/>
                </a:solidFill>
                <a:latin typeface="Calibri"/>
              </a:rPr>
              <a:t>Scheduled maintenance via demand analysis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111827"/>
                </a:solidFill>
                <a:latin typeface="Calibri"/>
              </a:rPr>
              <a:t>Future: NLP complaint auto-</a:t>
            </a:r>
            <a:r>
              <a:rPr sz="1100" b="0" dirty="0" err="1">
                <a:solidFill>
                  <a:srgbClr val="111827"/>
                </a:solidFill>
                <a:latin typeface="Calibri"/>
              </a:rPr>
              <a:t>categorisation</a:t>
            </a:r>
            <a:endParaRPr sz="1100" b="0" dirty="0">
              <a:solidFill>
                <a:srgbClr val="111827"/>
              </a:solidFill>
              <a:latin typeface="Calibr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111827"/>
                </a:solidFill>
                <a:latin typeface="Calibri"/>
              </a:rPr>
              <a:t>Future: ML-based predictive maintenance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Live Demo &amp;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B981"/>
                </a:solidFill>
                <a:latin typeface="Calibri"/>
              </a:rPr>
              <a:t>Fully functional, deployed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SafaiMitra  |  Track 5: AI for Society  |  IITB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1E3A5F"/>
                </a:solidFill>
                <a:latin typeface="Calibri"/>
              </a:rPr>
              <a:t>Live URL</a:t>
            </a:r>
            <a:r>
              <a:rPr lang="en-US" sz="1500" b="1" i="0" dirty="0">
                <a:solidFill>
                  <a:srgbClr val="1E3A5F"/>
                </a:solidFill>
                <a:latin typeface="Calibri"/>
              </a:rPr>
              <a:t>: </a:t>
            </a:r>
            <a:r>
              <a:rPr lang="en-IN" sz="1500" b="1" dirty="0">
                <a:solidFill>
                  <a:srgbClr val="1E3A5F"/>
                </a:solidFill>
              </a:rPr>
              <a:t>https://safaimitra.vercel.app/login</a:t>
            </a:r>
            <a:endParaRPr sz="1500" b="1" i="0" dirty="0">
              <a:solidFill>
                <a:srgbClr val="1E3A5F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1965960"/>
            <a:ext cx="137160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203911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039112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Open public QR feedback form — citizen submits complaint in &lt;30 seconds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24328"/>
            <a:ext cx="137160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269748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69748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Switch to Admin Dashboard — real-time notification appears instantly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82696"/>
            <a:ext cx="137160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33558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35584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Admin assigns complaint to a cleaner with one click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941064"/>
            <a:ext cx="137160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40142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014216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Cleaner Portal — assignment visible on mobile; cleaner uploads photo proof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99431"/>
            <a:ext cx="137160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4672583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Step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672583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Admin verifies photo — task marked resolved; audit trail updated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257800"/>
            <a:ext cx="137160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533095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Step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330952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View Cleaner Performance Scores, Analytics Dashboard &amp; History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989320"/>
            <a:ext cx="11430000" cy="438912"/>
          </a:xfrm>
          <a:prstGeom prst="rect">
            <a:avLst/>
          </a:prstGeom>
          <a:solidFill>
            <a:srgbClr val="FFF3C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0350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24000"/>
                </a:solidFill>
                <a:latin typeface="Calibri"/>
              </a:rPr>
              <a:t>Pro-tip: A backup screen recording of the full demo flow is ready in case of internet issues.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Feasibility &amp; Practical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B981"/>
                </a:solidFill>
                <a:latin typeface="Calibri"/>
              </a:rPr>
              <a:t>Realistic, low-cost, immediately deployable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SafaiMitra  |  Track 5: AI for Society  |  IITB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Execution Timeline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20240"/>
            <a:ext cx="15544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98424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98424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Month 1-2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98424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Pilot at 2-3 facilities. Collect data &amp; build case studies.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42032"/>
            <a:ext cx="155448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260604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Month 3-6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0604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City-level expansion. Municipal body partnerships.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163824"/>
            <a:ext cx="155448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322783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22783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Month 6-12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227832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State-level scale. Government tender applications.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85616"/>
            <a:ext cx="1554480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384962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8496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Year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849624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National rollout via railway and airport operators.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Budget (Pilot Phase)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9377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Development cost:   Rs. 0  (already complete)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Hosting:                    Free tier (Vercel + Firebase)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QR Code printing:    Rs. 5-10 per washroom (one-time)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City onboarding:       Rs. 10,000 - 20,000 per pilot city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434840"/>
            <a:ext cx="5486400" cy="1965960"/>
          </a:xfrm>
          <a:prstGeom prst="rect">
            <a:avLst/>
          </a:prstGeom>
          <a:solidFill>
            <a:srgbClr val="ECFF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4526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7A55"/>
                </a:solidFill>
                <a:latin typeface="Calibri"/>
              </a:rPr>
              <a:t>Revenue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9377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• SaaS subscription per facility (monthly)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• Government tenders under Swachh Bharat Mission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• Premium analytics for enterprise clients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• CSR-funded deployments in public facilities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Social, Economic &amp; AI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B981"/>
                </a:solidFill>
                <a:latin typeface="Calibri"/>
              </a:rPr>
              <a:t>Who benefits and by how much?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SafaiMitra  |  Track 5: AI for Society  |  IITB Hackathon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228600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59105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Citizens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60020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Clean, safe, hygienic washrooms with a 30-second reporting mechanism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30552"/>
            <a:ext cx="2286000" cy="530352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22128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Women &amp; Elderly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221992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47% of women avoid public spaces — SafaiMitra directly addresses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52344"/>
            <a:ext cx="228600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283463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Cleaning Staff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843784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Structured work, fair evaluation, dignity for India's most overlooked workforce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374136"/>
            <a:ext cx="2286000" cy="530352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3456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Facility Managers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465576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Real-time visibility, data-driven decisions, measurable ROI on operations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95928"/>
            <a:ext cx="228600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407822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Government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08736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Ground-level data to accurately measure Swachh Bharat Mission progress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463040"/>
            <a:ext cx="2468880" cy="5029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0976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  <a:latin typeface="Calibri"/>
              </a:rPr>
              <a:t>Target Metrics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480" y="2011680"/>
            <a:ext cx="219456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5480" y="2103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Resolution &lt; 2hrs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55480" y="2697480"/>
            <a:ext cx="219456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55480" y="278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40% more cleaning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55480" y="3383280"/>
            <a:ext cx="219456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5548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80%+ same-day fix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55480" y="4069080"/>
            <a:ext cx="219456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5548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90%+ proof 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55480" y="4754880"/>
            <a:ext cx="219456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5548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30% less repeats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55480" y="5440680"/>
            <a:ext cx="219456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55480" y="5532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20% cost savings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08076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Scalability: Multi-tenant architecture — 1 facility or 10,000 facilities, same deployment cost.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-457200"/>
            <a:ext cx="3657600" cy="3657600"/>
          </a:xfrm>
          <a:prstGeom prst="rect">
            <a:avLst/>
          </a:prstGeom>
          <a:solidFill>
            <a:srgbClr val="05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01200" y="4389120"/>
            <a:ext cx="2743200" cy="2743200"/>
          </a:xfrm>
          <a:prstGeom prst="rect">
            <a:avLst/>
          </a:prstGeom>
          <a:solidFill>
            <a:srgbClr val="05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Conclusion &amp; Future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6400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7772400" cy="1097280"/>
          </a:xfrm>
          <a:prstGeom prst="rect">
            <a:avLst/>
          </a:prstGeom>
          <a:solidFill>
            <a:srgbClr val="05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Our Mission: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SafaiMitra exists to ensure that no Indian has to use a dirty washroom simply because there was no system to keep it clean.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What We Built: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Full-stack, live, deployed web application (React + Firebase + Vercel)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Closed-loop accountability: citizen complaint → cleaner proof → admin verification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Installable PWA — works as a native app on any mobile phone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Multi-tenant architecture — deployable to any facility in under 2 hours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17720"/>
            <a:ext cx="7772400" cy="1554480"/>
          </a:xfrm>
          <a:prstGeom prst="rect">
            <a:avLst/>
          </a:prstGeom>
          <a:solidFill>
            <a:srgbClr val="05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709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Next Steps — AI Features in Development: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7406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1.  AI Predictive Maintenance: ML model trained on complaint &amp; footfall data to predict cleaning needs before a complaint is raised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2.  NLP Auto-Categorisation: Automatically tag and prioritise citizen complaints for smarter routing and faster resolution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IITB Hackathon  |  Track 5: AI for Society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993</Words>
  <Application>Microsoft Office PowerPoint</Application>
  <PresentationFormat>Custom</PresentationFormat>
  <Paragraphs>168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Apoorv Tandon</cp:lastModifiedBy>
  <cp:revision>2</cp:revision>
  <dcterms:created xsi:type="dcterms:W3CDTF">2013-01-27T09:14:16Z</dcterms:created>
  <dcterms:modified xsi:type="dcterms:W3CDTF">2026-07-19T05:17:06Z</dcterms:modified>
  <cp:category/>
</cp:coreProperties>
</file>